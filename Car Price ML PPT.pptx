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Montserrat SemiBold"/>
      <p:regular r:id="rId23"/>
      <p:bold r:id="rId24"/>
      <p:italic r:id="rId25"/>
      <p:boldItalic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Lato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9" roundtripDataSignature="AMtx7mhO/09vq9DtHOi465r7Q/6X7dcb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SemiBold-bold.fntdata"/><Relationship Id="rId23" Type="http://schemas.openxmlformats.org/officeDocument/2006/relationships/font" Target="fonts/Montserrat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SemiBold-boldItalic.fntdata"/><Relationship Id="rId25" Type="http://schemas.openxmlformats.org/officeDocument/2006/relationships/font" Target="fonts/MontserratSemiBold-italic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35" Type="http://schemas.openxmlformats.org/officeDocument/2006/relationships/font" Target="fonts/Lato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37" Type="http://schemas.openxmlformats.org/officeDocument/2006/relationships/font" Target="fonts/Lato-italic.fntdata"/><Relationship Id="rId14" Type="http://schemas.openxmlformats.org/officeDocument/2006/relationships/slide" Target="slides/slide9.xml"/><Relationship Id="rId36" Type="http://schemas.openxmlformats.org/officeDocument/2006/relationships/font" Target="fonts/Lato-bold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Lato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2745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9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19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9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9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9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19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20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1" name="Google Shape;21;p2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8" name="Google Shape;28;p2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2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22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0" name="Google Shape;50;p2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22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22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23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8" name="Google Shape;58;p2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24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4" name="Google Shape;64;p2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24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24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25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25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5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5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5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5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5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5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5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5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5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5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5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5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5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5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5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5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5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25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3" name="Google Shape;93;p2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26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26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26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27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27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7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27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28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28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8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8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28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8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28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8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8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28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28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8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8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28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28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8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8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28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28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28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28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"/>
          <p:cNvSpPr txBox="1"/>
          <p:nvPr/>
        </p:nvSpPr>
        <p:spPr>
          <a:xfrm>
            <a:off x="941000" y="3012100"/>
            <a:ext cx="3832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PROJECT MENTOR :</a:t>
            </a:r>
            <a:endParaRPr b="1" i="0" sz="19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b="1" lang="en" sz="19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Mr. Supratik Chatterjee                                            </a:t>
            </a:r>
            <a:endParaRPr b="1" i="0" sz="2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Assistant Professor, Dept. Of CA,    Asansol Engineering College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1"/>
          <p:cNvSpPr txBox="1"/>
          <p:nvPr/>
        </p:nvSpPr>
        <p:spPr>
          <a:xfrm>
            <a:off x="4099100" y="270750"/>
            <a:ext cx="4533900" cy="17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sng" cap="none" strike="noStrike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CAR PRICE PREDICTION MODEL</a:t>
            </a:r>
            <a:endParaRPr b="0" i="0" sz="3200" u="sng" cap="none" strike="noStrike"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5568800" y="2339800"/>
            <a:ext cx="3064200" cy="22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" sz="1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TEAMS MEMBERS:</a:t>
            </a:r>
            <a:endParaRPr b="1" i="0" sz="19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b="0" i="0" lang="en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Aritra Banerjee</a:t>
            </a:r>
            <a:endParaRPr b="0"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b="0" i="0" lang="en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Md. Musharraf</a:t>
            </a:r>
            <a:endParaRPr b="0"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b="0" i="0" lang="en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Nilesh Maji</a:t>
            </a:r>
            <a:endParaRPr b="0"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b="0" i="0" lang="en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Sujan Banerjee</a:t>
            </a:r>
            <a:endParaRPr b="0"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b="0" i="0" lang="en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Shouvik Ghanty</a:t>
            </a:r>
            <a:endParaRPr b="0"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Roboto"/>
              <a:buChar char="●"/>
            </a:pPr>
            <a:r>
              <a:rPr b="0" i="0" lang="en" sz="17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Sounak Kundu</a:t>
            </a:r>
            <a:endParaRPr b="0"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"/>
          <p:cNvSpPr txBox="1"/>
          <p:nvPr/>
        </p:nvSpPr>
        <p:spPr>
          <a:xfrm>
            <a:off x="719850" y="2141850"/>
            <a:ext cx="1947600" cy="8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CONTENTS</a:t>
            </a:r>
            <a:endParaRPr b="1" i="0" sz="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3608525" y="685200"/>
            <a:ext cx="4877700" cy="37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Roboto"/>
              <a:buChar char="➔"/>
            </a:pPr>
            <a:r>
              <a:rPr b="1" i="0" lang="en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Project Objective &amp; Scope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Roboto"/>
              <a:buChar char="➔"/>
            </a:pPr>
            <a:r>
              <a:rPr b="1" i="0" lang="en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Description</a:t>
            </a:r>
            <a:endParaRPr b="1" i="0" sz="2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Roboto"/>
              <a:buChar char="➔"/>
            </a:pPr>
            <a:r>
              <a:rPr b="1" i="0" lang="en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Methodology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Roboto"/>
              <a:buChar char="➔"/>
            </a:pPr>
            <a:r>
              <a:rPr b="1" i="0" lang="en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Preprocessing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Roboto"/>
              <a:buChar char="➔"/>
            </a:pPr>
            <a:r>
              <a:rPr b="1" i="0" lang="en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 Used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Roboto"/>
              <a:buChar char="➔"/>
            </a:pPr>
            <a:r>
              <a:rPr b="1" i="0" lang="en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Accuracy Comparison</a:t>
            </a:r>
            <a:endParaRPr b="1" i="0" sz="25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73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Roboto"/>
              <a:buChar char="➔"/>
            </a:pPr>
            <a:r>
              <a:rPr b="1" i="0" lang="en" sz="2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Future Scope of Improvements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"/>
          <p:cNvSpPr txBox="1"/>
          <p:nvPr/>
        </p:nvSpPr>
        <p:spPr>
          <a:xfrm>
            <a:off x="1543625" y="138900"/>
            <a:ext cx="42435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PROJECT OBJECTIVE &amp; SCOPE</a:t>
            </a:r>
            <a:endParaRPr b="1" i="0" sz="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1543625" y="689400"/>
            <a:ext cx="6350400" cy="42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Objective: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Given: A used car dataset from Kaggle with features like year, km driven, fuel type, transmission, etc.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Goal:</a:t>
            </a:r>
            <a:r>
              <a:rPr b="0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Predict the selling price of a used car using machine learning models.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Finally: Evaluate different regression models and deploy the best one using a Streamlit web app.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Scope:</a:t>
            </a:r>
            <a:endParaRPr b="1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Helps users estimate a fair price for used cars without dealer dependency.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Demonstrates regression techniques in real-world prediction tasks.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Predictions may vary for unusual or rare listings.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Model performance can improve with more data and regular updates.</a:t>
            </a:r>
            <a:endParaRPr b="0" i="0" sz="1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"/>
          <p:cNvSpPr txBox="1"/>
          <p:nvPr/>
        </p:nvSpPr>
        <p:spPr>
          <a:xfrm>
            <a:off x="834450" y="167824"/>
            <a:ext cx="3017100" cy="18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DATA DESCRIPTION</a:t>
            </a:r>
            <a:endParaRPr b="1" i="0" sz="2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4" name="Google Shape;154;p4" title="Screenshot 2025-04-29 212008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41374" y="167837"/>
            <a:ext cx="4765499" cy="480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0975" y="152400"/>
            <a:ext cx="32258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1193375" y="2152225"/>
            <a:ext cx="3486300" cy="19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METHODOLOGY</a:t>
            </a:r>
            <a:endParaRPr b="1" i="0" sz="2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 txBox="1"/>
          <p:nvPr/>
        </p:nvSpPr>
        <p:spPr>
          <a:xfrm>
            <a:off x="1089650" y="54375"/>
            <a:ext cx="3623700" cy="5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PREPROCESSING</a:t>
            </a:r>
            <a:endParaRPr b="1" i="0" sz="2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1674000" y="569775"/>
            <a:ext cx="5796000" cy="43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AutoNum type="arabicPeriod"/>
            </a:pPr>
            <a:r>
              <a:rPr b="1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Missing Values</a:t>
            </a:r>
            <a:endParaRPr b="1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Checked using .isnull().sum()</a:t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Dropped rows with nulls in key columns</a:t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AutoNum type="arabicPeriod"/>
            </a:pPr>
            <a:r>
              <a:rPr b="1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Categorical to Numeric</a:t>
            </a:r>
            <a:endParaRPr b="1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Applied One-Hot Encoding on features like Fuel, Transmission, Owner</a:t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AutoNum type="arabicPeriod"/>
            </a:pPr>
            <a:r>
              <a:rPr b="1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Feature Scaling</a:t>
            </a:r>
            <a:endParaRPr b="1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Used StandardScaler to normalize numeric columns</a:t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AutoNum type="arabicPeriod"/>
            </a:pPr>
            <a:r>
              <a:rPr b="1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Outlier Handling</a:t>
            </a:r>
            <a:endParaRPr b="1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Removed extreme values in price and kilometers driven</a:t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1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"/>
              <a:buAutoNum type="arabicPeriod"/>
            </a:pPr>
            <a:r>
              <a:rPr b="1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Feature Selection</a:t>
            </a:r>
            <a:endParaRPr b="1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Dropped irrelevant columns (e.g., unnamed or duplicate features)</a:t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/>
          <p:nvPr/>
        </p:nvSpPr>
        <p:spPr>
          <a:xfrm>
            <a:off x="1290575" y="440650"/>
            <a:ext cx="23544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MODELS USED</a:t>
            </a:r>
            <a:endParaRPr b="0" i="0" sz="24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1290575" y="1124400"/>
            <a:ext cx="6595500" cy="33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The Machine Learning models used for this project are:</a:t>
            </a:r>
            <a:endParaRPr b="0" i="0" sz="2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➢"/>
            </a:pPr>
            <a:r>
              <a:rPr b="0" i="0" lang="en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Linear Regression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➢"/>
            </a:pPr>
            <a:r>
              <a:rPr b="0" i="0" lang="en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Decision Tree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➢"/>
            </a:pPr>
            <a:r>
              <a:rPr b="0" i="0" lang="en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➢"/>
            </a:pPr>
            <a:r>
              <a:rPr b="0" i="0" lang="en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Gradient Boosting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➢"/>
            </a:pPr>
            <a:r>
              <a:rPr b="0" i="0" lang="en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XGBoost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"/>
              <a:buChar char="➢"/>
            </a:pPr>
            <a:r>
              <a:rPr b="0" i="0" lang="en" sz="2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K-NN</a:t>
            </a:r>
            <a:endParaRPr b="0" i="0" sz="2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"/>
          <p:cNvSpPr txBox="1"/>
          <p:nvPr/>
        </p:nvSpPr>
        <p:spPr>
          <a:xfrm>
            <a:off x="1018850" y="611975"/>
            <a:ext cx="3082800" cy="6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LINEAR REGRESSION</a:t>
            </a:r>
            <a:endParaRPr b="1" i="0" sz="2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920950" y="1460975"/>
            <a:ext cx="4665000" cy="3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Linear Regression is a simple and commonly used supervised machine learning algorithm used for predicting a continuous output based on one or more input features.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assumes a linear relationship between the input variables (X) and the output variable (Y), and tries to fit a straight line that best represents this relationship.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 our project, Linear Regression was used to predict the car selling price using features like year, kilometers driven, fuel type, and more.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9" name="Google Shape;179;p8" title="LR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85950" y="1994900"/>
            <a:ext cx="3360125" cy="218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/>
          <p:nvPr/>
        </p:nvSpPr>
        <p:spPr>
          <a:xfrm>
            <a:off x="1099575" y="452925"/>
            <a:ext cx="3250200" cy="7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DECISION TREE</a:t>
            </a:r>
            <a:endParaRPr b="1" i="0" sz="2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1099575" y="1156425"/>
            <a:ext cx="4143000" cy="36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Decision Tree Regression is a supervised learning algorithm used for predicting continuous values by learning simple decision rules inferred from the data features.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works like a flowchart, where each internal node represents a decision on a feature, each branch represents the outcome, and each leaf node represents a predicted value.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 our project, the Decision Tree model helped to capture non-linear patterns in the data and make price predictions based on feature-based conditions.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6" name="Google Shape;186;p9" title="Decision Tre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29975" y="1428875"/>
            <a:ext cx="2941077" cy="3144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 txBox="1"/>
          <p:nvPr/>
        </p:nvSpPr>
        <p:spPr>
          <a:xfrm>
            <a:off x="1078725" y="370000"/>
            <a:ext cx="36114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RANDOM FOREST</a:t>
            </a:r>
            <a:endParaRPr b="1" i="0" sz="2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1078725" y="1167900"/>
            <a:ext cx="4208400" cy="3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Random Forest is an ensemble learning method that builds multiple decision trees and merges their results to improve prediction accuracy and reduce overfitting.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uses a technique called bagging (Bootstrap Aggregating), where each tree is trained on a random subset of the data, and the final prediction is the average of all tree predictions.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 our project, Random Forest provided the best overall accuracy and performance metrics, making it the primary model for predicting used car prices.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3" name="Google Shape;193;p10" title="Random Fores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1425" y="1692925"/>
            <a:ext cx="3470749" cy="246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/>
          <p:nvPr/>
        </p:nvSpPr>
        <p:spPr>
          <a:xfrm>
            <a:off x="1332050" y="327850"/>
            <a:ext cx="35490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GRADIENT BOOSTING</a:t>
            </a:r>
            <a:endParaRPr b="1" i="0" sz="2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11"/>
          <p:cNvSpPr txBox="1"/>
          <p:nvPr/>
        </p:nvSpPr>
        <p:spPr>
          <a:xfrm>
            <a:off x="1332050" y="1081950"/>
            <a:ext cx="4208400" cy="32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Gradient Boosting is a powerful ensemble technique that builds models sequentially, where each new model tries to correct the errors made by the previous ones.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uses a method called boosting, where weak learners (typically shallow decision trees) are combined to form a strong predictive model.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Unlike Random Forest which builds trees in parallel, Gradient Boosting focuses on minimizing the residual errors step by step using gradient descent.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00" name="Google Shape;200;p11" title="gradien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7225" y="1289087"/>
            <a:ext cx="3121874" cy="312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 txBox="1"/>
          <p:nvPr/>
        </p:nvSpPr>
        <p:spPr>
          <a:xfrm>
            <a:off x="1073100" y="262925"/>
            <a:ext cx="32676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XGBOOST</a:t>
            </a:r>
            <a:endParaRPr b="1" i="0" sz="2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1073100" y="884150"/>
            <a:ext cx="4023600" cy="40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G</a:t>
            </a: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radient Boosting is a powerful ensemble technique that builds models sequentially, where each new model tries to correct the errors made by the previous ones.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uses a method called boosting, where weak learners (typically shallow decision trees) are combined to form a strong predictive model.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 our project, Gradient Boosting achieved high accuracy and worked well on the dataset, although it was slightly less consistent compared to Random Forest.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7" name="Google Shape;207;p12" title="xgboos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96700" y="1663426"/>
            <a:ext cx="3823176" cy="246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"/>
          <p:cNvSpPr txBox="1"/>
          <p:nvPr/>
        </p:nvSpPr>
        <p:spPr>
          <a:xfrm>
            <a:off x="1296200" y="588875"/>
            <a:ext cx="1954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KNN</a:t>
            </a:r>
            <a:endParaRPr b="1" i="0" sz="22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1296200" y="1200500"/>
            <a:ext cx="3719100" cy="358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KNN is a simple, instance-based learning algorithm used for classification and regression tasks.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makes predictions by finding the ‘K’ closest data points in the training set and taking the average (for regression) or majority vote (for classification).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It does not build an explicit model but relies on distance metrics (like Euclidean distance) to make predictions.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KNN can be computationally expensive for large datasets.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14" name="Google Shape;214;p13" title="Example-on-KNN-classifie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3475" y="1479975"/>
            <a:ext cx="3238451" cy="26360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4"/>
          <p:cNvSpPr txBox="1"/>
          <p:nvPr/>
        </p:nvSpPr>
        <p:spPr>
          <a:xfrm>
            <a:off x="1849975" y="495050"/>
            <a:ext cx="4455600" cy="7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50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" sz="21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ACCURACY COMPARISON</a:t>
            </a:r>
            <a:endParaRPr b="1" i="0" sz="21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0" name="Google Shape;220;p14" title="model comparis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1675" y="1433150"/>
            <a:ext cx="6349401" cy="347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5"/>
          <p:cNvSpPr txBox="1"/>
          <p:nvPr/>
        </p:nvSpPr>
        <p:spPr>
          <a:xfrm>
            <a:off x="1334075" y="972150"/>
            <a:ext cx="7347900" cy="39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26" name="Google Shape;226;p15"/>
          <p:cNvSpPr txBox="1"/>
          <p:nvPr/>
        </p:nvSpPr>
        <p:spPr>
          <a:xfrm>
            <a:off x="1334075" y="249675"/>
            <a:ext cx="48447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ACCURACY COMPARISON (CONTD.)</a:t>
            </a:r>
            <a:endParaRPr b="1" i="0" sz="2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27" name="Google Shape;227;p15" title="accuracy comparison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5651" y="1075050"/>
            <a:ext cx="7124749" cy="37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"/>
          <p:cNvSpPr txBox="1"/>
          <p:nvPr/>
        </p:nvSpPr>
        <p:spPr>
          <a:xfrm>
            <a:off x="1349700" y="276200"/>
            <a:ext cx="34551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3" name="Google Shape;233;p16"/>
          <p:cNvSpPr txBox="1"/>
          <p:nvPr/>
        </p:nvSpPr>
        <p:spPr>
          <a:xfrm>
            <a:off x="1067600" y="221100"/>
            <a:ext cx="49263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FUTURE SCOPE OF IMPROVEMENTS</a:t>
            </a:r>
            <a:endParaRPr b="1" i="0" sz="13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1130250" y="830700"/>
            <a:ext cx="68835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Deployment: The application can be deployed on platforms like Heroku, Render, or AWS to make it publicly accessible and usable by a wider audience.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Model Optimization: Experimenting with advanced models like CatBoost or ensemble stacking could improve predictive performance. 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Larger Dataset: Train the models on a more diverse and extensive dataset to improve generalizability to real-world used car markets.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Real-Time Predictions: Deploy the model into a live web application where users can input car details and get instant price predictions.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Mobile App Integration: Extending the platform to Android/iOS would increase accessibility and usability.</a:t>
            </a:r>
            <a:endParaRPr b="0" i="0" sz="16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/>
        </p:nvSpPr>
        <p:spPr>
          <a:xfrm>
            <a:off x="2109750" y="1886450"/>
            <a:ext cx="4924500" cy="12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" sz="6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THANK YOU!</a:t>
            </a:r>
            <a:endParaRPr b="0" i="0" sz="60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